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356616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AUTONOMOUS LOGISTICS AI CONTROL TOWER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48463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FFFFF"/>
                </a:solidFill>
              </a:defRPr>
            </a:pPr>
            <a:r>
              <a:t>Autonomous Multi-Agent</a:t>
            </a:r>
            <a:br/>
            <a:r>
              <a:t>Dock &amp; Slot Scheduler</a:t>
            </a:r>
          </a:p>
          <a:p>
            <a:pPr>
              <a:spcAft>
                <a:spcPts val="1400"/>
              </a:spcAft>
              <a:defRPr sz="1250">
                <a:solidFill>
                  <a:srgbClr val="CBD5E1"/>
                </a:solidFill>
              </a:defRPr>
            </a:pPr>
            <a:r>
              <a:t>Complete Product Architecture, 5-Agent Working Pipeline, Pairwise Slot Swap &amp; Cross-Dock Swap Scenarios, 24-Hour Scrollable Gantt Chart (30/45/60m Slots), Overlapping ETA Red Indicator &amp; Carrier Transport Portal.</a:t>
            </a:r>
          </a:p>
          <a:p>
            <a:pPr>
              <a:spcAft>
                <a:spcPts val="500"/>
              </a:spcAft>
              <a:defRPr sz="1100" b="1">
                <a:solidFill>
                  <a:srgbClr val="93C5FD"/>
                </a:solidFill>
              </a:defRPr>
            </a:pPr>
            <a:r>
              <a:t>✓  End-to-End Multi-Agent Architecture &amp; Dual SQLite DB Design</a:t>
            </a:r>
          </a:p>
          <a:p>
            <a:pPr>
              <a:spcAft>
                <a:spcPts val="500"/>
              </a:spcAft>
              <a:defRPr sz="1100" b="1">
                <a:solidFill>
                  <a:srgbClr val="93C5FD"/>
                </a:solidFill>
              </a:defRPr>
            </a:pPr>
            <a:r>
              <a:t>✓  5 Specialized Agents (TruckData, ScheduleData, ETAFinder, SlotChecking, ExecutionComm)</a:t>
            </a:r>
          </a:p>
          <a:p>
            <a:pPr>
              <a:spcAft>
                <a:spcPts val="500"/>
              </a:spcAft>
              <a:defRPr sz="1100" b="1">
                <a:solidFill>
                  <a:srgbClr val="93C5FD"/>
                </a:solidFill>
              </a:defRPr>
            </a:pPr>
            <a:r>
              <a:t>✓  Scenario 1: Pairwise Slot Swap (SLOT_SWAP) on Same Dock</a:t>
            </a:r>
          </a:p>
          <a:p>
            <a:pPr>
              <a:spcAft>
                <a:spcPts val="500"/>
              </a:spcAft>
              <a:defRPr sz="1100" b="1">
                <a:solidFill>
                  <a:srgbClr val="93C5FD"/>
                </a:solidFill>
              </a:defRPr>
            </a:pPr>
            <a:r>
              <a:t>✓  Scenario 2: Cross-Dock Swap (DOCK_SWAP: DOCK-A ↔ DOCK-B)</a:t>
            </a:r>
          </a:p>
          <a:p>
            <a:pPr>
              <a:spcAft>
                <a:spcPts val="500"/>
              </a:spcAft>
              <a:defRPr sz="1100" b="1">
                <a:solidFill>
                  <a:srgbClr val="93C5FD"/>
                </a:solidFill>
              </a:defRPr>
            </a:pPr>
            <a:r>
              <a:t>✓  24-Hour Scrollable Gantt with Frozen Left Labels &amp; 30/45/60m Bars</a:t>
            </a:r>
          </a:p>
          <a:p>
            <a:pPr>
              <a:spcAft>
                <a:spcPts val="500"/>
              </a:spcAft>
              <a:defRPr sz="1100" b="1">
                <a:solidFill>
                  <a:srgbClr val="93C5FD"/>
                </a:solidFill>
              </a:defRPr>
            </a:pPr>
            <a:r>
              <a:t>✓  Overlapping ETA Red Indicator &amp; Standalone /transport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731520"/>
            <a:ext cx="6355080" cy="3849624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_01_control_tower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777240"/>
            <a:ext cx="6263640" cy="37581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32120" y="4800600"/>
            <a:ext cx="1490472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0A5FA"/>
                </a:solidFill>
              </a:defRPr>
            </a:pPr>
            <a:r>
              <a:t>5 AI Agents</a:t>
            </a:r>
          </a:p>
          <a:p>
            <a:pPr algn="ctr">
              <a:defRPr sz="1000">
                <a:solidFill>
                  <a:srgbClr val="CBD5E1"/>
                </a:solidFill>
              </a:defRPr>
            </a:pPr>
            <a:r>
              <a:t>Autonomous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14031" y="4800600"/>
            <a:ext cx="1490472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0A5FA"/>
                </a:solidFill>
              </a:defRPr>
            </a:pPr>
            <a:r>
              <a:t>Slot &amp; Dock Swap</a:t>
            </a:r>
          </a:p>
          <a:p>
            <a:pPr algn="ctr">
              <a:defRPr sz="1000">
                <a:solidFill>
                  <a:srgbClr val="CBD5E1"/>
                </a:solidFill>
              </a:defRPr>
            </a:pPr>
            <a:r>
              <a:t>Dynamic Re-Allocation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95944" y="4800600"/>
            <a:ext cx="1490472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0A5FA"/>
                </a:solidFill>
              </a:defRPr>
            </a:pPr>
            <a:r>
              <a:t>24-Hr Gantt</a:t>
            </a:r>
          </a:p>
          <a:p>
            <a:pPr algn="ctr">
              <a:defRPr sz="1000">
                <a:solidFill>
                  <a:srgbClr val="CBD5E1"/>
                </a:solidFill>
              </a:defRPr>
            </a:pPr>
            <a:r>
              <a:t>30 / 45 / 60m Slots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77855" y="4800600"/>
            <a:ext cx="1490472" cy="123444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0A5FA"/>
                </a:solidFill>
              </a:defRPr>
            </a:pPr>
            <a:r>
              <a:t>3 Connectors</a:t>
            </a:r>
          </a:p>
          <a:p>
            <a:pPr algn="ctr">
              <a:defRPr sz="1000">
                <a:solidFill>
                  <a:srgbClr val="CBD5E1"/>
                </a:solidFill>
              </a:defRPr>
            </a:pPr>
            <a:r>
              <a:t>TMS • WMS • Telematics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01168"/>
            <a:ext cx="1261872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28016"/>
            <a:ext cx="1005840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End-to-End System &amp; Multi-Database Architecture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4-Tier decoupled architecture: Role-Separated Web Portals, FastAPI Orchestration Layer, 5-Agent Engine, and Pluggable Data Connectors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61872"/>
            <a:ext cx="2514600" cy="242316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335024"/>
            <a:ext cx="2295144" cy="2276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2563EB"/>
                </a:solidFill>
                <a:latin typeface="Calibri"/>
              </a:defRPr>
            </a:pPr>
            <a:r>
              <a:t>TIER 1A • INTERNAL OPS UI</a:t>
            </a:r>
          </a:p>
          <a:p>
            <a:pPr>
              <a:spcAft>
                <a:spcPts val="3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Control Tower Portal (/)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24-Hr Scrollable Gantt Chart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Frozen Track Labels (1. Existing / 2. Proposed)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Scenario Switcher (Full / Slot / Dock Swap)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In-Bar Approve/Reject &amp; Bulk Commit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Fleet Table, Logs &amp; DB Connector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886200"/>
            <a:ext cx="2514600" cy="25146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3959352"/>
            <a:ext cx="2295144" cy="2368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059669"/>
                </a:solidFill>
                <a:latin typeface="Calibri"/>
              </a:defRPr>
            </a:pPr>
            <a:r>
              <a:t>TIER 1B • EXTERNAL CARRIER UI</a:t>
            </a:r>
          </a:p>
          <a:p>
            <a:pPr>
              <a:spcAft>
                <a:spcPts val="3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Transport Portal (/transport)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Isolated from Main Control Tower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Card 1: Manual 24-Hr ETA Input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Card 2: Book New Truck Appointment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Supports 30m, 45m &amp; 60m Durations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Instant webhook push to Orchestrator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99232" y="2286000"/>
            <a:ext cx="411480" cy="32004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2999232" y="4937760"/>
            <a:ext cx="411480" cy="320040"/>
          </a:xfrm>
          <a:prstGeom prst="rightArrow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1261872"/>
            <a:ext cx="2240280" cy="513892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1335024"/>
            <a:ext cx="2020824" cy="4992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475569"/>
                </a:solidFill>
                <a:latin typeface="Calibri"/>
              </a:defRPr>
            </a:pPr>
            <a:r>
              <a:t>TIER 2 • API GATEWAY</a:t>
            </a:r>
          </a:p>
          <a:p>
            <a:pPr>
              <a:spcAft>
                <a:spcPts val="3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FastAPI Server (server.py)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GET /api/state (Live Preview)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POST /api/modify-eta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POST /api/add-truck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POST /api/run-agents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POST /api/proposals/approve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POST /api/proposals/reject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POST /api/preset-scenario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  - SCENARIO_FULL_MULTI_AGENT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  - SCENARIO_SLOT_SWAP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  - SCENARIO_DOCK_SWAP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POST /api/connections/test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POST /api/connections/save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POST /api/connections/sync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Runs Agents 01–04 in non-mutating preview mode on every state poll, and triggers Agent 05 on approval.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779008" y="3611880"/>
            <a:ext cx="411480" cy="32004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261872"/>
            <a:ext cx="2788920" cy="5138928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335024"/>
            <a:ext cx="2569464" cy="4992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7C3AED"/>
                </a:solidFill>
                <a:latin typeface="Calibri"/>
              </a:defRPr>
            </a:pPr>
            <a:r>
              <a:t>TIER 3 • MULTI-AGENT CORE</a:t>
            </a:r>
          </a:p>
          <a:p>
            <a:pPr>
              <a:spcAft>
                <a:spcPts val="3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MultiAgentOrchestrator (agents.py)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01. TruckDataAgent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    Reads fleet manifest, cargo type, weight, duration (30/45/60m) &amp; live ETA.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02. ScheduleDataAgent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    Reads DOCK-A &amp; DOCK-B bay capabilities &amp; 24-hour slot allocations.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03. ETAFinderAgent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    Computes Δ variance, [ETA → ETA+Dur] window &amp; Overlapping ETA Red Alerts.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04. SlotCheckingAgent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    Constraint solver for SLOT_SWAP, DOCK_SWAP, SLOT_TIME_SHIFT &amp; BOOKING.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05. ExecutionCommAgent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    Transactional dual-DB writer &amp; Master Scheduler / Driver dispatcher.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116568" y="3611880"/>
            <a:ext cx="411480" cy="32004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0" y="1261872"/>
            <a:ext cx="2194560" cy="16002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10928" y="1335024"/>
            <a:ext cx="1975104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2563EB"/>
                </a:solidFill>
                <a:latin typeface="Calibri"/>
              </a:defRPr>
            </a:pPr>
            <a:r>
              <a:t>TIER 4A • TRUCK DB / TMS</a:t>
            </a:r>
          </a:p>
          <a:p>
            <a:pPr>
              <a:spcAft>
                <a:spcPts val="3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truck_db.sqlite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Table: trucks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External: TMS REST API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External: Postgres URI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Bound to Agent 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3026664"/>
            <a:ext cx="2194560" cy="16002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10928" y="3099816"/>
            <a:ext cx="1975104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D97706"/>
                </a:solidFill>
                <a:latin typeface="Calibri"/>
              </a:defRPr>
            </a:pPr>
            <a:r>
              <a:t>TIER 4B • SCHEDULE DB / WMS</a:t>
            </a:r>
          </a:p>
          <a:p>
            <a:pPr>
              <a:spcAft>
                <a:spcPts val="3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schedule_db.sqlite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Tables: docks, schedule_records, communications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External: WMS REST/SQL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Bound to Agent 02 &amp; 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4800600"/>
            <a:ext cx="2194560" cy="160020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0928" y="4873752"/>
            <a:ext cx="1975104" cy="1453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DC2626"/>
                </a:solidFill>
                <a:latin typeface="Calibri"/>
              </a:defRPr>
            </a:pPr>
            <a:r>
              <a:t>TIER 4C • TELEMATICS FEED</a:t>
            </a:r>
          </a:p>
          <a:p>
            <a:pPr>
              <a:spcAft>
                <a:spcPts val="3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Live GPS / ETA Stream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/api/external-mock/telematics-eta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Samsara Webhook / API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Bound to Agent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01168"/>
            <a:ext cx="1261872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AGENTS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28016"/>
            <a:ext cx="1005840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How the 5 Autonomous Agents Work Together — Pipeline &amp; Decision Logic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Step-by-step execution flow from raw truck/schedule ingestion to conflict detection, swap optimization, and atomic DB commit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234440"/>
            <a:ext cx="2194560" cy="35204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234440"/>
            <a:ext cx="2194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344168"/>
            <a:ext cx="1901952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Calibri"/>
              </a:defRPr>
            </a:pPr>
            <a:r>
              <a:t>AGENT 01 • DATA INGESTION (TMS)</a:t>
            </a:r>
          </a:p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TruckDataAgent</a:t>
            </a:r>
          </a:p>
          <a:p>
            <a:pPr>
              <a:spcAft>
                <a:spcPts val="35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 Connects to truck_db.sqlite or External TMS API.</a:t>
            </a:r>
          </a:p>
          <a:p>
            <a:pPr>
              <a:spcAft>
                <a:spcPts val="35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 Loads truck_id, carrier, driver, cargo_type (REFRIGERATED / DRY_VAN / FLATBED), weight_tons, duration_mins (30/45/60m), and current_eta.</a:t>
            </a:r>
          </a:p>
          <a:p>
            <a:pPr>
              <a:spcAft>
                <a:spcPts val="35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 Identifies scheduled vs. unbooked inbound trucks.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1234440"/>
            <a:ext cx="2194560" cy="35204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97479" y="1234440"/>
            <a:ext cx="219456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3" y="1344168"/>
            <a:ext cx="1901952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7C3AED"/>
                </a:solidFill>
                <a:latin typeface="Calibri"/>
              </a:defRPr>
            </a:pPr>
            <a:r>
              <a:t>AGENT 02 • DOCK &amp; SLOT STATE (WMS)</a:t>
            </a:r>
          </a:p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ScheduleDataAgent</a:t>
            </a:r>
          </a:p>
          <a:p>
            <a:pPr>
              <a:spcAft>
                <a:spcPts val="35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 Connects to schedule_db.sqlite or External WMS API.</a:t>
            </a:r>
          </a:p>
          <a:p>
            <a:pPr>
              <a:spcAft>
                <a:spcPts val="35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 Loads active docks: DOCK-A (Bay 1: REEFER + DRY_VAN + FLATBED) &amp; DOCK-B (Bay 2: DRY_VAN + FLATBED).</a:t>
            </a:r>
          </a:p>
          <a:p>
            <a:pPr>
              <a:spcAft>
                <a:spcPts val="35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 Builds 24-hour occupancy matrix (00:00–24:00) of BOOKED vs. OPEN slots.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10912" y="1234440"/>
            <a:ext cx="2194560" cy="35204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10912" y="1234440"/>
            <a:ext cx="219456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57216" y="1344168"/>
            <a:ext cx="1901952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DC2626"/>
                </a:solidFill>
                <a:latin typeface="Calibri"/>
              </a:defRPr>
            </a:pPr>
            <a:r>
              <a:t>AGENT 03 • VARIANCE &amp; OVERLAP ENGINE</a:t>
            </a:r>
          </a:p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ETAFinderAgent</a:t>
            </a:r>
          </a:p>
          <a:p>
            <a:pPr>
              <a:spcAft>
                <a:spcPts val="35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 Computes Δ = ETA_mins − Scheduled_Start_mins.</a:t>
            </a:r>
          </a:p>
          <a:p>
            <a:pPr>
              <a:spcAft>
                <a:spcPts val="35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 Flags EARLY (Δ ≤ −30m), DELAYED (Δ ≥ +30m), or UNBOOKED.</a:t>
            </a:r>
          </a:p>
          <a:p>
            <a:pPr>
              <a:spcAft>
                <a:spcPts val="35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 Checks same-dock overlap: max(Start_A, Start_B) &lt; min(End_A, End_B) → triggers Red Indicator.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24344" y="1234440"/>
            <a:ext cx="2194560" cy="35204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24344" y="1234440"/>
            <a:ext cx="219456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0648" y="1344168"/>
            <a:ext cx="1901952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D97706"/>
                </a:solidFill>
                <a:latin typeface="Calibri"/>
              </a:defRPr>
            </a:pPr>
            <a:r>
              <a:t>AGENT 04 • SWAP &amp; SLOT OPTIMIZER</a:t>
            </a:r>
          </a:p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SlotCheckingAgent</a:t>
            </a:r>
          </a:p>
          <a:p>
            <a:pPr>
              <a:spcAft>
                <a:spcPts val="35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 Priority 1 — Pairwise Slot Swap (SLOT_SWAP): Swaps an early truck with a delayed truck on the same dock.</a:t>
            </a:r>
          </a:p>
          <a:p>
            <a:pPr>
              <a:spcAft>
                <a:spcPts val="35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 Priority 2 — Cross-Dock Swap (DOCK_SWAP): Moves a delayed truck to an open compatible bay on the other dock.</a:t>
            </a:r>
          </a:p>
          <a:p>
            <a:pPr>
              <a:spcAft>
                <a:spcPts val="35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 Priority 3 — Time Shift / New Booking (30/45/60m).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37776" y="1234440"/>
            <a:ext cx="2194560" cy="35204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37776" y="1234440"/>
            <a:ext cx="219456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1344168"/>
            <a:ext cx="1901952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59669"/>
                </a:solidFill>
                <a:latin typeface="Calibri"/>
              </a:defRPr>
            </a:pPr>
            <a:r>
              <a:t>AGENT 05 • TRANSACTIONAL COMMIT</a:t>
            </a:r>
          </a:p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ExecutionCommAgent</a:t>
            </a:r>
          </a:p>
          <a:p>
            <a:pPr>
              <a:spcAft>
                <a:spcPts val="35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 Triggered by single-truck '✓ Approve' or 'Approve All'.</a:t>
            </a:r>
          </a:p>
          <a:p>
            <a:pPr>
              <a:spcAft>
                <a:spcPts val="35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 Atomically updates schedule_records in schedule_db.sqlite and trucks in truck_db.sqlite.</a:t>
            </a:r>
          </a:p>
          <a:p>
            <a:pPr>
              <a:spcAft>
                <a:spcPts val="350"/>
              </a:spcAft>
              <a:defRPr sz="980">
                <a:solidFill>
                  <a:srgbClr val="334155"/>
                </a:solidFill>
                <a:latin typeface="Calibri"/>
              </a:defRPr>
            </a:pPr>
            <a:r>
              <a:t>•  Writes audit trail &amp; dispatches alerts to Master Scheduler &amp; Driver.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4919472"/>
            <a:ext cx="11430000" cy="1627632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4919472"/>
            <a:ext cx="11430000" cy="640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029200"/>
            <a:ext cx="1113739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Calibri"/>
              </a:defRPr>
            </a:pPr>
            <a:r>
              <a:t>MATHEMATICAL CONFLICT &amp; OPTIMIZATION RULES (AGENTS 03 &amp; 04)</a:t>
            </a:r>
          </a:p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How Overlapping ETAs, Slot Swaps, and Cross-Dock Swaps Are Evaluated</a:t>
            </a:r>
          </a:p>
          <a:p>
            <a:pPr>
              <a:spcAft>
                <a:spcPts val="350"/>
              </a:spcAft>
              <a:defRPr sz="1019">
                <a:solidFill>
                  <a:srgbClr val="334155"/>
                </a:solidFill>
                <a:latin typeface="Calibri"/>
              </a:defRPr>
            </a:pPr>
            <a:r>
              <a:t>•  1. Live Arrival Window &amp; Overlap Formula: For each truck i with duration D_i ∈ {30, 45, 60} mins, Live Window = [ETA_i, ETA_i + D_i]. Two trucks i, j on the same dock overlap iff max(ETA_i, ETA_j) &lt; min(ETA_i + D_i, ETA_j + D_j).</a:t>
            </a:r>
          </a:p>
          <a:p>
            <a:pPr>
              <a:spcAft>
                <a:spcPts val="350"/>
              </a:spcAft>
              <a:defRPr sz="1019">
                <a:solidFill>
                  <a:srgbClr val="334155"/>
                </a:solidFill>
                <a:latin typeface="Calibri"/>
              </a:defRPr>
            </a:pPr>
            <a:r>
              <a:t>•  2. Pairwise Slot Swap (SLOT_SWAP): Selected when Truck A (scheduled at Hour H_1, delayed to H_2) and Truck B (scheduled at Hour H_2, arriving early at H_1) both satisfy cargo compatibility on the dock.</a:t>
            </a:r>
          </a:p>
          <a:p>
            <a:pPr>
              <a:spcAft>
                <a:spcPts val="350"/>
              </a:spcAft>
              <a:defRPr sz="1019">
                <a:solidFill>
                  <a:srgbClr val="334155"/>
                </a:solidFill>
                <a:latin typeface="Calibri"/>
              </a:defRPr>
            </a:pPr>
            <a:r>
              <a:t>•  3. Cross-Dock Swap (DOCK_SWAP): Selected when Truck A is delayed to Hour H_target, its current dock D_orig is already occupied at H_target, and alternate dock D_alt supports Truck A's cargo_type and has an OPEN slot at H_target.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01168"/>
            <a:ext cx="1261872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SCREEN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28016"/>
            <a:ext cx="1005840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Executive Control Tower &amp; 5-Agent Pipeline Dashboard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Main Scheduler Screen (http://127.0.0.1:8050/) — Scenario Switcher, Condensed KPI Ribbon, and Live 5-Agent Telemetry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16152"/>
            <a:ext cx="7955280" cy="4809744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_01_control_tower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7863840" cy="4718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58200" y="1261872"/>
            <a:ext cx="3337560" cy="523036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58200" y="1261872"/>
            <a:ext cx="3337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04504" y="1371600"/>
            <a:ext cx="3044952" cy="5047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Calibri"/>
              </a:defRPr>
            </a:pPr>
            <a:r>
              <a:t>CONTROL TOWER HIGHLIGHTS</a:t>
            </a:r>
          </a:p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Unified Single-Screen Operations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Built-In Scenario Switcher: Instant one-click buttons in the top header for 'Full Mix', 'Slot Swap', and 'Dock Swap (A↔B)'.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Condensed KPI Ribbon: Displays Active Fleet (8), Live ETA Conflicts (5), Pending Agent Proposals (5), and Scheduler Dispatches.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5-Agent Pipeline Stepper: Shows live execution logs and bound data sources (SQLite DB, Telematics API, WMS) for Agents 01–05.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Role Separation: Transport Portal (/transport) is isolated for external carriers with no link exposed on the internal Control Tower.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01168"/>
            <a:ext cx="1261872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SCREEN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28016"/>
            <a:ext cx="1005840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24-Hour Scrollable Gantt Chart, 30/45/60m Slots &amp; Red Overlap Indicator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Synchronized 00:00–24:00 timeline with Frozen Left Track Labels, Variable Duration Bars &amp; Overlapping ETA Red Alerts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16152"/>
            <a:ext cx="7955280" cy="4809744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_02_gantt_24h_frozen_and_overl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7863840" cy="4718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58200" y="1261872"/>
            <a:ext cx="3337560" cy="523036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58200" y="1261872"/>
            <a:ext cx="333756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04504" y="1371600"/>
            <a:ext cx="3044952" cy="5047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DC2626"/>
                </a:solidFill>
                <a:latin typeface="Calibri"/>
              </a:defRPr>
            </a:pPr>
            <a:r>
              <a:t>24-HR GANTT CAPABILITIES</a:t>
            </a:r>
          </a:p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Precision Visual Scheduling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24-Hour Scrollable Axis (00:00–24:00): 5760px timeline with :00/:15/:30/:45 ticks and quick-jump buttons (00:00, 06:00, Active 08:00–14:00, 14:00, 18:00).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Frozen Left Track Column: 'Schedule Track', '1. Existing Schedule', and '2. Proposed Schedule' remain locked on the left while scrolling horizontally.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30m, 45m &amp; 60m Appointments: Proportional bar widths (50%, 75%, 100% of hour column) with duration badges.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Overlapping ETA Red Indicator: Red banner + pulsing red slot bars whenever [ETA → ETA+Duration] collides with another truck on the same dock.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Uniform ♦ ETA Pins: Matching red pins (♦ TRK-XXX HH:MM) across both Dock 1 and Dock 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01168"/>
            <a:ext cx="1261872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SLOT SWAP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28016"/>
            <a:ext cx="1005840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Scenario 1: Pairwise Slot Swap (SLOT_SWAP) on 24-Hour Gantt Chart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Live Demo ('Slot Swap' button) — Early TRK-103 (ETA 08:05) and Delayed TRK-101 (ETA 10:05) swap appointments on DOCK-A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16152"/>
            <a:ext cx="7955280" cy="4809744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_03_slot_swap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7863840" cy="4718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58200" y="1261872"/>
            <a:ext cx="3337560" cy="523036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58200" y="1261872"/>
            <a:ext cx="333756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04504" y="1371600"/>
            <a:ext cx="3044952" cy="5047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7C3AED"/>
                </a:solidFill>
                <a:latin typeface="Calibri"/>
              </a:defRPr>
            </a:pPr>
            <a:r>
              <a:t>PAIRWISE SLOT SWAP SCENARIO</a:t>
            </a:r>
          </a:p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Same-Dock Mutual Exchange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Initial Schedule on DOCK-A: TRK-101 (60m) is booked at [08:00–09:00] and TRK-103 (30m) is booked at [10:00–10:30].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Live ETA Disruption: TRK-101 is delayed +125m by highway congestion (Live ETA 10:05), while TRK-103 arrives −115m early (Live ETA 08:05).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Agent 03 &amp; 04 Detection: Agent 03 flags both trucks out-of-window; Agent 04 discovers that TRK-103 can immediately utilize TRK-101's 08:00 bay while TRK-101 takes the 10:00 slot.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Proposed Track 2 Result: TRK-103 moves to DOCK-A [08:00–08:30] ('Slot Swap') and TRK-101 moves to DOCK-A [10:00–11:00] ('Slot Swap') with zero dock idle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01168"/>
            <a:ext cx="1261872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SLOT SWAP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28016"/>
            <a:ext cx="1005840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Scenario 1: Pairwise Slot Swap — Agent Proposal Cards &amp; Fleet Telemetry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Tab 2 view of SCENARIO_SLOT_SWAP showing exact Agent 04 reasoning, variance metrics, and one-click Approve/Reject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16152"/>
            <a:ext cx="7955280" cy="4809744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_04_slot_swap_propos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7863840" cy="4718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58200" y="1261872"/>
            <a:ext cx="3337560" cy="523036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58200" y="1261872"/>
            <a:ext cx="333756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04504" y="1371600"/>
            <a:ext cx="3044952" cy="5047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7C3AED"/>
                </a:solidFill>
                <a:latin typeface="Calibri"/>
              </a:defRPr>
            </a:pPr>
            <a:r>
              <a:t>SLOT SWAP AGENT TELEMETRY</a:t>
            </a:r>
          </a:p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How Agent 04 Validates the Swap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Bidirectional Pairing: Proposal cards explicitly link TRK-101 (DOCK-A 08:00 → DOCK-A 10:00) and TRK-103 (DOCK-A 10:00 → DOCK-A 08:00).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Duration Preservation: TRK-103 retains its 30m appointment duration [08:00–08:30], and TRK-101 retains its 60m duration [10:00–11:00].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Cargo &amp; Bay Check: Both trucks are validated against DOCK-A's supported cargo types (REFRIGERATED, DRY_VAN, FLATBED).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Atomic Approval: Approving either truck commits the paired slot swap in schedule_db.sqlite and truck_db.sqlite.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01168"/>
            <a:ext cx="1261872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DOCK SWAP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28016"/>
            <a:ext cx="1005840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Scenario 2: Cross-Dock Swap (DOCK_SWAP: DOCK-A ↔ DOCK-B) on Gantt Chart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Live Demo ('Dock Swap (A↔B)' button) — Delayed DOCK-A trucks automatically re-route to open bays on DOCK-B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16152"/>
            <a:ext cx="7955280" cy="4809744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_05_dock_swap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7863840" cy="4718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58200" y="1261872"/>
            <a:ext cx="3337560" cy="523036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58200" y="1261872"/>
            <a:ext cx="333756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04504" y="1371600"/>
            <a:ext cx="3044952" cy="5047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D97706"/>
                </a:solidFill>
                <a:latin typeface="Calibri"/>
              </a:defRPr>
            </a:pPr>
            <a:r>
              <a:t>CROSS-DOCK SWAP SCENARIO</a:t>
            </a:r>
          </a:p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Resolving Same-Dock Collisions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Collision 1 on DOCK-A (11:00): TRK-102 (45m, booked DOCK-A [09:00–09:45]) is delayed to ETA 11:05, colliding with TRK-104 at DOCK-A [11:00].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Cross-Dock Move 1: Because DOCK-A [11:00] is occupied, Agent 04 moves TRK-102 across to open DOCK-B [11:00–11:45] ('Dock Swap').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Collision 2 on DOCK-A (12:00): TRK-104 (45m, booked DOCK-A [11:00–11:45]) is delayed to ETA 12:05, colliding with TRK-105 (60m, ETA 12:00) on DOCK-A [12:00].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Cross-Dock Move 2: Agent 04 flags the Overlapping ETA Red Indicator at 12:05 and moves TRK-104 to open DOCK-B [12:00–12:45] ('Dock Swap').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01168"/>
            <a:ext cx="1261872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DOCK SWAP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28016"/>
            <a:ext cx="1005840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Scenario 2: Cross-Dock Swap — Agent Proposal Cards &amp; Bay Compatibility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Tab 2 view of SCENARIO_DOCK_SWAP showing DOCK_SWAP badges, Overlapping ETA alerts, and cross-bay assignment reasoning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16152"/>
            <a:ext cx="7955280" cy="4809744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_06_dock_swap_propos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7863840" cy="4718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58200" y="1261872"/>
            <a:ext cx="3337560" cy="523036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58200" y="1261872"/>
            <a:ext cx="333756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04504" y="1371600"/>
            <a:ext cx="3044952" cy="5047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D97706"/>
                </a:solidFill>
                <a:latin typeface="Calibri"/>
              </a:defRPr>
            </a:pPr>
            <a:r>
              <a:t>CROSS-DOCK OPTIMIZER LOGIC</a:t>
            </a:r>
          </a:p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Constraint-Aware Bay Reallocation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Equipment &amp; Cargo Constraint Check: Before moving TRK-102 (DRY_VAN) and TRK-104 (FLATBED) from DOCK-A to DOCK-B, Agent 04 verifies DOCK-B supports DRY_VAN and FLATBED cargo.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Vacated Slot Recovery: Moving TRK-102 and TRK-104 to DOCK-B frees DOCK-A [09:00] and [11:00] for early or unbooked arrivals.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Zero Detention &amp; Zero Overlap: Eliminates the 12:05–12:50 red overlap between TRK-104 and TRK-105 on DOCK-A.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Driver &amp; Gate Notification: On approval, Agent 05 notifies drivers to proceed to Bay 2 (DOCK-B) instead of Bay 1 (DOCK-A).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01168"/>
            <a:ext cx="1261872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SCREEN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28016"/>
            <a:ext cx="1005840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Interactive ETA Simulation Modal &amp; In-Bar Approval Controls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Click any truck bar on the Gantt chart to override its 24-hour ETA and trigger instant 5-Agent recalculation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16152"/>
            <a:ext cx="7955280" cy="4809744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_07_eta_modal_overr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7863840" cy="4718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58200" y="1261872"/>
            <a:ext cx="3337560" cy="523036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58200" y="1261872"/>
            <a:ext cx="3337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04504" y="1371600"/>
            <a:ext cx="3044952" cy="5047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Calibri"/>
              </a:defRPr>
            </a:pPr>
            <a:r>
              <a:t>INTERACTIVE SIMULATION</a:t>
            </a:r>
          </a:p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What-If ETA Testing &amp; Approval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Click-to-Edit Gantt Bars: Clicking any bar on the Gantt chart opens the native modal dialog for that truck.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24-Hour Time Picker: Override the simulated ETA anywhere between 00:00 and 23:55 and add a telemetry reason note.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Instant Multi-Agent Recalculation: Saving a new ETA immediately runs Agents 01–04 to recompute overlaps, Slot Swaps, and Dock Swaps.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Granular In-Bar Approval: Each proposed bar in Track 2 features '✓ Approve' and '✕' buttons positioned cleanly beside the truck ID.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01168"/>
            <a:ext cx="1261872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SCREEN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28016"/>
            <a:ext cx="1005840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Full Fleet Operations Table, Pending Proposals &amp; Dispatch Feed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Tab 2 ('2. Truck Fleet, ETA Controls &amp; Logs') — Combined Slot Swap, Dock Swap, Time Shift &amp; Unbooked Truck proposals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16152"/>
            <a:ext cx="7955280" cy="4809744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_08_fleet_table_and_l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7863840" cy="4718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58200" y="1261872"/>
            <a:ext cx="3337560" cy="523036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58200" y="1261872"/>
            <a:ext cx="333756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04504" y="1371600"/>
            <a:ext cx="3044952" cy="5047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D97706"/>
                </a:solidFill>
                <a:latin typeface="Calibri"/>
              </a:defRPr>
            </a:pPr>
            <a:r>
              <a:t>FLEET &amp; AUDIT WORKSPACE</a:t>
            </a:r>
          </a:p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Complete Operational Visibility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Pending Schedule Proposals Feed: Displays all 5 active proposals in the Full Mix scenario (SLOT_SWAP, DOCK_SWAP, SLOT_TIME_SHIFT, BOOK_NEW_APPOINTMENT).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Master Scheduler &amp; Driver Communications Log: Real-time audit trail of every committed schedule change and rejection.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Truck Fleet &amp; Live ETA Table: Displays Cargo, Weight, Duration (30m/45m/60m), Original Slot, Current DB Slot, Live ETA window, and Red '⚠ OVERLAPS' badges.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01168"/>
            <a:ext cx="1261872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SCREEN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28016"/>
            <a:ext cx="1005840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Database &amp; External System Connection Links (TMS / WMS / Telematics)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Tab 3 ('3. DB &amp; System Connections') — Pluggable data connectors bound directly to Agents 01, 02, and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16152"/>
            <a:ext cx="7955280" cy="4809744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_09_db_and_external_conn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7863840" cy="4718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58200" y="1261872"/>
            <a:ext cx="3337560" cy="523036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58200" y="1261872"/>
            <a:ext cx="3337560" cy="6400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04504" y="1371600"/>
            <a:ext cx="3044952" cy="5047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891B2"/>
                </a:solidFill>
                <a:latin typeface="Calibri"/>
              </a:defRPr>
            </a:pPr>
            <a:r>
              <a:t>EXTERNAL INTEGRATIONS</a:t>
            </a:r>
          </a:p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Live Connector Architecture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1. Truck DB / TMS Connection (Agent 01): Connect to local SQLite, External TMS SQLite, Mock TMS REST API (/api/external-mock/tms-trucks), or PostgreSQL URI.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2. Schedule DB / WMS Connection (Agent 02): Connect to local Schedule SQLite, External WMS SQLite, Mock WMS REST API, or PostgreSQL URI.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3. Live ETA / Telematics Feed (Agent 03): Connect to Live Telematics REST API (/api/external-mock/telematics-eta), Samsara Webhook, or Truck DB.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Test, Bind &amp; Sync: Includes 'Test Link', 'Save &amp; Bind to Agent', and 'Sync Agent via Link' with live latency &amp; row-count diagnostics.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01168"/>
            <a:ext cx="1261872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SCREEN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28016"/>
            <a:ext cx="1005840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Standalone Carrier &amp; Driver Transport Portal (/transport)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Dedicated external portal (http://127.0.0.1:8050/transport) for Manual ETA Input &amp; Booking 30/45/60m Appointments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16152"/>
            <a:ext cx="7955280" cy="4809744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_10_transport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7863840" cy="4718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58200" y="1261872"/>
            <a:ext cx="3337560" cy="523036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58200" y="1261872"/>
            <a:ext cx="333756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04504" y="1371600"/>
            <a:ext cx="3044952" cy="5047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59669"/>
                </a:solidFill>
                <a:latin typeface="Calibri"/>
              </a:defRPr>
            </a:pPr>
            <a:r>
              <a:t>CARRIER SELF-SERVICE PORTAL</a:t>
            </a:r>
          </a:p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Clean Two-Card Dispatch UI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Card 01 — Manual ETA Input (Existing Schedule): Carriers select a scheduled truck, view its current slot &amp; duration, and submit an updated 24-hour ETA (00:00–23:55) with quick offset chips.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Card 02 — Book New Truck Schedule / Appointment: Register a new inbound truck (Truck ID, Carrier, Driver, Weight, Cargo Type) and select a 30 min, 45 min, or 60 min appointment duration.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Real-Time Sync to Control Tower: Submissions automatically trigger the 5-Agent pipeline and appear on the Scheduler's Gantt chart.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01168"/>
            <a:ext cx="1261872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SCREEN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28016"/>
            <a:ext cx="1005840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Post-Approval Committed Schedule State on 24-Hour Gantt Chart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After clicking 'Approve All' — All Slot Swaps, Dock Swaps &amp; New Bookings committed to schedule_db.sqlite &amp; truck_db.sqlite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16152"/>
            <a:ext cx="7955280" cy="4809744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_11_approved_committed_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7863840" cy="4718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58200" y="1261872"/>
            <a:ext cx="3337560" cy="5230368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58200" y="1261872"/>
            <a:ext cx="3337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04504" y="1371600"/>
            <a:ext cx="3044952" cy="5047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Calibri"/>
              </a:defRPr>
            </a:pPr>
            <a:r>
              <a:t>EXECUTION OUTCOME</a:t>
            </a:r>
          </a:p>
          <a:p>
            <a:pPr>
              <a:spcAft>
                <a:spcPts val="5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Zero Overlaps &amp; Full Alignment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Pairwise Slot Swap Committed: TRK-103 (30m, early at 08:05) and TRK-101 (60m, delayed to 10:10) swap slots on DOCK-A.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Cross-Dock Swap Committed: TRK-102 (45m, delayed to 11:05) moves from DOCK-A to open DOCK-B [11:00–11:45].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Slot Shift Committed: TRK-104 (45m, delayed to 13:05) shifts to open DOCK-A [13:00–13:45].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New 30m Booking Committed: Unbooked TRK-108 (30m, ETA 09:10) books into vacated DOCK-A [09:00–09:30].</a:t>
            </a:r>
          </a:p>
          <a:p>
            <a:pPr>
              <a:spcAft>
                <a:spcPts val="350"/>
              </a:spcAft>
              <a:defRPr sz="1050">
                <a:solidFill>
                  <a:srgbClr val="334155"/>
                </a:solidFill>
                <a:latin typeface="Calibri"/>
              </a:defRPr>
            </a:pPr>
            <a:r>
              <a:t>•  Visual Confirmation: Committed bars turn solid blue ('Approved') and Live ETA Conflicts drop to 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